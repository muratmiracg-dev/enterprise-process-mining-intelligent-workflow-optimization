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1c5b8566a5432d" /><Relationship Type="http://schemas.openxmlformats.org/officeDocument/2006/relationships/extended-properties" Target="/docProps/app.xml" Id="Rf92af317307d40b6" /><Relationship Type="http://schemas.openxmlformats.org/officeDocument/2006/relationships/officeDocument" Target="/ppt/presentation.xml" Id="R89131254bb0d4b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b17590ba56428a"/>
  </p:sldMasterIdLst>
  <p:notesMasterIdLst>
    <p:notesMasterId xmlns:r="http://schemas.openxmlformats.org/officeDocument/2006/relationships" r:id="R78e19cede5c44bbb"/>
  </p:notesMasterIdLst>
  <p:sldIdLst>
    <p:sldId xmlns:r="http://schemas.openxmlformats.org/officeDocument/2006/relationships" id="256" r:id="R2edf0b5cb6834909"/>
    <p:sldId xmlns:r="http://schemas.openxmlformats.org/officeDocument/2006/relationships" id="257" r:id="R1e5c29a993c141f6"/>
    <p:sldId xmlns:r="http://schemas.openxmlformats.org/officeDocument/2006/relationships" id="258" r:id="Rd9e9a3fb45274d3e"/>
    <p:sldId xmlns:r="http://schemas.openxmlformats.org/officeDocument/2006/relationships" id="259" r:id="R998736403ae4485d"/>
    <p:sldId xmlns:r="http://schemas.openxmlformats.org/officeDocument/2006/relationships" id="260" r:id="R3b629df6c0534a6d"/>
    <p:sldId xmlns:r="http://schemas.openxmlformats.org/officeDocument/2006/relationships" id="261" r:id="R76b68e7a83f44435"/>
    <p:sldId xmlns:r="http://schemas.openxmlformats.org/officeDocument/2006/relationships" id="262" r:id="R7e552ba5ac9b4837"/>
    <p:sldId xmlns:r="http://schemas.openxmlformats.org/officeDocument/2006/relationships" id="263" r:id="R81e182fdd2df4c41"/>
    <p:sldId xmlns:r="http://schemas.openxmlformats.org/officeDocument/2006/relationships" id="264" r:id="R20b49dc26a874bc1"/>
    <p:sldId xmlns:r="http://schemas.openxmlformats.org/officeDocument/2006/relationships" id="265" r:id="Rb4350fa2cf3d4e20"/>
    <p:sldId xmlns:r="http://schemas.openxmlformats.org/officeDocument/2006/relationships" id="266" r:id="R16e0610a4fc641b5"/>
    <p:sldId xmlns:r="http://schemas.openxmlformats.org/officeDocument/2006/relationships" id="267" r:id="R2ba121dd71794c27"/>
    <p:sldId xmlns:r="http://schemas.openxmlformats.org/officeDocument/2006/relationships" id="268" r:id="R7431160b164f47c8"/>
    <p:sldId xmlns:r="http://schemas.openxmlformats.org/officeDocument/2006/relationships" id="269" r:id="R935bcd7691814944"/>
    <p:sldId xmlns:r="http://schemas.openxmlformats.org/officeDocument/2006/relationships" id="270" r:id="R1d28cd4b725e4646"/>
    <p:sldId xmlns:r="http://schemas.openxmlformats.org/officeDocument/2006/relationships" id="271" r:id="R94c189f530b845c8"/>
    <p:sldId xmlns:r="http://schemas.openxmlformats.org/officeDocument/2006/relationships" id="272" r:id="Rcf15fed71e5141e3"/>
    <p:sldId xmlns:r="http://schemas.openxmlformats.org/officeDocument/2006/relationships" id="273" r:id="Rb30f6050117b4ebf"/>
    <p:sldId xmlns:r="http://schemas.openxmlformats.org/officeDocument/2006/relationships" id="274" r:id="R775fbc29d248422f"/>
    <p:sldId xmlns:r="http://schemas.openxmlformats.org/officeDocument/2006/relationships" id="275" r:id="Re8c20ea24bc349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5ab35b4c584e35" /><Relationship Type="http://schemas.openxmlformats.org/officeDocument/2006/relationships/slideMaster" Target="/ppt/slideMasters/slideMaster1.xml" Id="R0fb17590ba56428a" /><Relationship Type="http://schemas.openxmlformats.org/officeDocument/2006/relationships/notesMaster" Target="/ppt/notesMasters/notesMaster1.xml" Id="R78e19cede5c44bbb" /><Relationship Type="http://schemas.openxmlformats.org/officeDocument/2006/relationships/presProps" Target="/ppt/presProps.xml" Id="R68c2fc032a3b4df7" /><Relationship Type="http://schemas.openxmlformats.org/officeDocument/2006/relationships/tableStyles" Target="/ppt/tableStyles.xml" Id="R21665958996e4e51" /><Relationship Type="http://schemas.openxmlformats.org/officeDocument/2006/relationships/slide" Target="/ppt/slides/slide1.xml" Id="R2edf0b5cb6834909" /><Relationship Type="http://schemas.openxmlformats.org/officeDocument/2006/relationships/slide" Target="/ppt/slides/slide2.xml" Id="R1e5c29a993c141f6" /><Relationship Type="http://schemas.openxmlformats.org/officeDocument/2006/relationships/slide" Target="/ppt/slides/slide3.xml" Id="Rd9e9a3fb45274d3e" /><Relationship Type="http://schemas.openxmlformats.org/officeDocument/2006/relationships/slide" Target="/ppt/slides/slide4.xml" Id="R998736403ae4485d" /><Relationship Type="http://schemas.openxmlformats.org/officeDocument/2006/relationships/slide" Target="/ppt/slides/slide5.xml" Id="R3b629df6c0534a6d" /><Relationship Type="http://schemas.openxmlformats.org/officeDocument/2006/relationships/slide" Target="/ppt/slides/slide6.xml" Id="R76b68e7a83f44435" /><Relationship Type="http://schemas.openxmlformats.org/officeDocument/2006/relationships/slide" Target="/ppt/slides/slide7.xml" Id="R7e552ba5ac9b4837" /><Relationship Type="http://schemas.openxmlformats.org/officeDocument/2006/relationships/slide" Target="/ppt/slides/slide8.xml" Id="R81e182fdd2df4c41" /><Relationship Type="http://schemas.openxmlformats.org/officeDocument/2006/relationships/slide" Target="/ppt/slides/slide9.xml" Id="R20b49dc26a874bc1" /><Relationship Type="http://schemas.openxmlformats.org/officeDocument/2006/relationships/slide" Target="/ppt/slides/slide10.xml" Id="Rb4350fa2cf3d4e20" /><Relationship Type="http://schemas.openxmlformats.org/officeDocument/2006/relationships/slide" Target="/ppt/slides/slide11.xml" Id="R16e0610a4fc641b5" /><Relationship Type="http://schemas.openxmlformats.org/officeDocument/2006/relationships/slide" Target="/ppt/slides/slide12.xml" Id="R2ba121dd71794c27" /><Relationship Type="http://schemas.openxmlformats.org/officeDocument/2006/relationships/slide" Target="/ppt/slides/slide13.xml" Id="R7431160b164f47c8" /><Relationship Type="http://schemas.openxmlformats.org/officeDocument/2006/relationships/slide" Target="/ppt/slides/slide14.xml" Id="R935bcd7691814944" /><Relationship Type="http://schemas.openxmlformats.org/officeDocument/2006/relationships/slide" Target="/ppt/slides/slide15.xml" Id="R1d28cd4b725e4646" /><Relationship Type="http://schemas.openxmlformats.org/officeDocument/2006/relationships/slide" Target="/ppt/slides/slide16.xml" Id="R94c189f530b845c8" /><Relationship Type="http://schemas.openxmlformats.org/officeDocument/2006/relationships/slide" Target="/ppt/slides/slide17.xml" Id="Rcf15fed71e5141e3" /><Relationship Type="http://schemas.openxmlformats.org/officeDocument/2006/relationships/slide" Target="/ppt/slides/slide18.xml" Id="Rb30f6050117b4ebf" /><Relationship Type="http://schemas.openxmlformats.org/officeDocument/2006/relationships/slide" Target="/ppt/slides/slide19.xml" Id="R775fbc29d248422f" /><Relationship Type="http://schemas.openxmlformats.org/officeDocument/2006/relationships/slide" Target="/ppt/slides/slide20.xml" Id="Re8c20ea24bc349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990367f7784b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a24d9102c14fbf" /><Relationship Type="http://schemas.openxmlformats.org/officeDocument/2006/relationships/notesMaster" Target="/ppt/notesMasters/notesMaster1.xml" Id="R45b698c9be5240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cd6a93739042c8" /><Relationship Type="http://schemas.openxmlformats.org/officeDocument/2006/relationships/notesMaster" Target="/ppt/notesMasters/notesMaster1.xml" Id="R2a5d04c7dd72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2fbce502df4b64" /><Relationship Type="http://schemas.openxmlformats.org/officeDocument/2006/relationships/notesMaster" Target="/ppt/notesMasters/notesMaster1.xml" Id="R183146af0f9e4c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d8129ccbf4b65" /><Relationship Type="http://schemas.openxmlformats.org/officeDocument/2006/relationships/notesMaster" Target="/ppt/notesMasters/notesMaster1.xml" Id="R476e2aba63fb41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155720e9fc435c" /><Relationship Type="http://schemas.openxmlformats.org/officeDocument/2006/relationships/notesMaster" Target="/ppt/notesMasters/notesMaster1.xml" Id="R264a0a4183a546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e677f9867e47cb" /><Relationship Type="http://schemas.openxmlformats.org/officeDocument/2006/relationships/notesMaster" Target="/ppt/notesMasters/notesMaster1.xml" Id="R67739ff93a564c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22d05770bd4df9" /><Relationship Type="http://schemas.openxmlformats.org/officeDocument/2006/relationships/notesMaster" Target="/ppt/notesMasters/notesMaster1.xml" Id="R6a72ab9afcbf43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19e3131ae84775" /><Relationship Type="http://schemas.openxmlformats.org/officeDocument/2006/relationships/notesMaster" Target="/ppt/notesMasters/notesMaster1.xml" Id="R8cbd58d483e545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345743cd884a7d" /><Relationship Type="http://schemas.openxmlformats.org/officeDocument/2006/relationships/notesMaster" Target="/ppt/notesMasters/notesMaster1.xml" Id="Rb2a80f1730fc48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e244f5b7b1453b" /><Relationship Type="http://schemas.openxmlformats.org/officeDocument/2006/relationships/notesMaster" Target="/ppt/notesMasters/notesMaster1.xml" Id="Re44f6afea2484a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8d029cf40f4c85" /><Relationship Type="http://schemas.openxmlformats.org/officeDocument/2006/relationships/notesMaster" Target="/ppt/notesMasters/notesMaster1.xml" Id="Rfb9ddd34d7b047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8afe0ec63248e2" /><Relationship Type="http://schemas.openxmlformats.org/officeDocument/2006/relationships/notesMaster" Target="/ppt/notesMasters/notesMaster1.xml" Id="R6d8717590e5e46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875ebcbb5a4612" /><Relationship Type="http://schemas.openxmlformats.org/officeDocument/2006/relationships/notesMaster" Target="/ppt/notesMasters/notesMaster1.xml" Id="R5c294abd5d3247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526034084a4bd9" /><Relationship Type="http://schemas.openxmlformats.org/officeDocument/2006/relationships/notesMaster" Target="/ppt/notesMasters/notesMaster1.xml" Id="Rc5c9da156bb148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50e79c31924f3e" /><Relationship Type="http://schemas.openxmlformats.org/officeDocument/2006/relationships/notesMaster" Target="/ppt/notesMasters/notesMaster1.xml" Id="Rd9d7b104ce584e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7aa40f449041b4" /><Relationship Type="http://schemas.openxmlformats.org/officeDocument/2006/relationships/notesMaster" Target="/ppt/notesMasters/notesMaster1.xml" Id="R5fb1b3b1c0e54e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9c1d65251c4fe8" /><Relationship Type="http://schemas.openxmlformats.org/officeDocument/2006/relationships/notesMaster" Target="/ppt/notesMasters/notesMaster1.xml" Id="Ra103c6b2bcaf48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ba0b8f8d4d4880" /><Relationship Type="http://schemas.openxmlformats.org/officeDocument/2006/relationships/notesMaster" Target="/ppt/notesMasters/notesMaster1.xml" Id="R9cf21e6fa05b4f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75ea415a4944ce" /><Relationship Type="http://schemas.openxmlformats.org/officeDocument/2006/relationships/notesMaster" Target="/ppt/notesMasters/notesMaster1.xml" Id="R7f9f9696b21f47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9f4f3ec9684473" /><Relationship Type="http://schemas.openxmlformats.org/officeDocument/2006/relationships/notesMaster" Target="/ppt/notesMasters/notesMaster1.xml" Id="Rd50f776d59444f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management problem: process delay is measurable and actionable.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artifact: docs/images/dashboard-preview.png</a:t>
            </a:r>
          </a:p>
          <a:p xmlns:a="http://schemas.openxmlformats.org/drawingml/2006/main">
            <a:r>
              <a:t>- Repository evidence: reports/demo-analysis.json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reports/demo-analysis.json</a:t>
            </a:r>
          </a:p>
          <a:p xmlns:a="http://schemas.openxmlformats.org/drawingml/2006/main">
            <a:r>
              <a:t>- Repository method: docs/methodology.md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reports/demo-analysis.json</a:t>
            </a:r>
          </a:p>
          <a:p xmlns:a="http://schemas.openxmlformats.org/drawingml/2006/main">
            <a:r>
              <a:t>- Repository governance: docs/security-threat-model.md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process contract: src/process_optimizer/config.py</a:t>
            </a:r>
          </a:p>
          <a:p xmlns:a="http://schemas.openxmlformats.org/drawingml/2006/main">
            <a:r>
              <a:t>- Repository BPMN: bpmn/purchase-to-pay-reference.bpmn</a:t>
            </a:r>
          </a:p>
          <a:p xmlns:a="http://schemas.openxmlformats.org/drawingml/2006/main">
            <a:r>
              <a:t>- BPMN 2.0.2 specification: https://www.omg.org/spec/BPMN/2.0.2/About-BPMN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reports/demo-analysis.json</a:t>
            </a:r>
          </a:p>
          <a:p xmlns:a="http://schemas.openxmlformats.org/drawingml/2006/main">
            <a:r>
              <a:t>- Repository data contract: docs/data-contracts.md</a:t>
            </a:r>
          </a:p>
          <a:p xmlns:a="http://schemas.openxmlformats.org/drawingml/2006/main">
            <a:r>
              <a:t>- Repository CI: .github/workflows/ci.yml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reports/tables/variants.csv</a:t>
            </a:r>
          </a:p>
          <a:p xmlns:a="http://schemas.openxmlformats.org/drawingml/2006/main">
            <a:r>
              <a:t>- PM4Py features: https://processintelligence.solutions/pm4py/features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reports/tables/deviations.csv</a:t>
            </a:r>
          </a:p>
          <a:p xmlns:a="http://schemas.openxmlformats.org/drawingml/2006/main">
            <a:r>
              <a:t>- Repository evidence: reports/tables/bottlenecks.csv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reports/tables/case_conformance.csv</a:t>
            </a:r>
          </a:p>
          <a:p xmlns:a="http://schemas.openxmlformats.org/drawingml/2006/main">
            <a:r>
              <a:t>- Repository method: docs/methodology.md</a:t>
            </a:r>
          </a:p>
          <a:p xmlns:a="http://schemas.openxmlformats.org/drawingml/2006/main">
            <a:r>
              <a:t>- PM4Py API: https://processintelligence.solutions/pm4py/api/index.html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reports/tables/bottlenecks.csv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reports/demo-analysis.json</a:t>
            </a:r>
          </a:p>
          <a:p xmlns:a="http://schemas.openxmlformats.org/drawingml/2006/main">
            <a:r>
              <a:t>- Repository evidence: reports/tables/rework.csv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model card: docs/sla-model-card.md</a:t>
            </a:r>
          </a:p>
          <a:p xmlns:a="http://schemas.openxmlformats.org/drawingml/2006/main">
            <a:r>
              <a:t>- scikit-learn LogisticRegression: https://scikit-learn.org/stable/modules/generated/sklearn.linear_model.LogisticRegression.html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reports/demo-analysis.json</a:t>
            </a:r>
          </a:p>
          <a:p xmlns:a="http://schemas.openxmlformats.org/drawingml/2006/main">
            <a:r>
              <a:t>- Repository model card: docs/sla-model-card.md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reports/tables/sla_model_drivers.csv</a:t>
            </a:r>
          </a:p>
          <a:p xmlns:a="http://schemas.openxmlformats.org/drawingml/2006/main">
            <a:r>
              <a:t>- Repository model card: docs/sla-model-card.md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methodology: docs/simulation-methodology.md</a:t>
            </a:r>
          </a:p>
          <a:p xmlns:a="http://schemas.openxmlformats.org/drawingml/2006/main">
            <a:r>
              <a:t>- Repository implementation: src/process_optimizer/simulation.py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reports/tables/simulation_scenarios.csv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reports/tables/simulation_scenarios.csv</a:t>
            </a:r>
          </a:p>
          <a:p xmlns:a="http://schemas.openxmlformats.org/drawingml/2006/main">
            <a:r>
              <a:t>- Repository assumption model: docs/simulation-methodology.md</a:t>
            </a:r>
          </a:p>
          <a:p xmlns:a="http://schemas.openxmlformats.org/drawingml/2006/main">
            <a:r>
              <a:t>- Repository workbook: output/Process_Mining_Decision_Workbook.xlsx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decision evidence: reports/demo-analysis.json</a:t>
            </a:r>
          </a:p>
          <a:p xmlns:a="http://schemas.openxmlformats.org/drawingml/2006/main">
            <a:r>
              <a:t>- Repository governance: docs/security-threat-model.md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architecture: docs/architecture.md</a:t>
            </a:r>
          </a:p>
          <a:p xmlns:a="http://schemas.openxmlformats.org/drawingml/2006/main">
            <a:r>
              <a:t>- Repository security: docs/security-threat-model.md</a:t>
            </a:r>
          </a:p>
          <a:p xmlns:a="http://schemas.openxmlformats.org/drawingml/2006/main">
            <a:r>
              <a:t>- FastAPI documentation: https://fastapi.tiangolo.com/</a:t>
            </a:r>
          </a:p>
          <a:p xmlns:a="http://schemas.openxmlformats.org/drawingml/2006/main">
            <a:r>
              <a:t>- PostgreSQL 17 documentation: https://www.postgresql.org/docs/17/</a:t>
            </a:r>
          </a:p>
          <a:p xmlns:a="http://schemas.openxmlformats.org/drawingml/2006/main">
            <a:r>
              <a:t>- Power BI Projects: https://learn.microsoft.com/en-us/power-bi/developer/projects/projects-overview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roadmap: ROADMAP.md</a:t>
            </a:r>
          </a:p>
          <a:p xmlns:a="http://schemas.openxmlformats.org/drawingml/2006/main">
            <a:r>
              <a:t>- Repository deployment guidance: docs/deployment.md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https://github.com/muratmiracg-dev/Enterprise-Process-Mining-Intelligent-Workflow-Optimization</a:t>
            </a:r>
          </a:p>
          <a:p xmlns:a="http://schemas.openxmlformats.org/drawingml/2006/main">
            <a:r>
              <a:t>- Repository validation: docs/validation.md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2349afa0e47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87dd0644f5436e" /><Relationship Type="http://schemas.openxmlformats.org/officeDocument/2006/relationships/slideLayout" Target="/ppt/slideLayouts/slideLayout1.xml" Id="R1f707451767e4f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707451767e4f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c6d4c641a4a3c" /><Relationship Type="http://schemas.openxmlformats.org/officeDocument/2006/relationships/image" Target="/ppt/media/image.png" Id="Rd25408544003411d" /><Relationship Type="http://schemas.openxmlformats.org/officeDocument/2006/relationships/notesSlide" Target="/ppt/notesSlides/notesSlide1.xml" Id="R57e7948f2dcb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83cf81a754f06" /><Relationship Type="http://schemas.openxmlformats.org/officeDocument/2006/relationships/notesSlide" Target="/ppt/notesSlides/notesSlide2.xml" Id="Ra23f74c71d2042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aa99543ef4de7" /><Relationship Type="http://schemas.openxmlformats.org/officeDocument/2006/relationships/notesSlide" Target="/ppt/notesSlides/notesSlide3.xml" Id="Rb944286c056644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19e8740fb4485" /><Relationship Type="http://schemas.openxmlformats.org/officeDocument/2006/relationships/notesSlide" Target="/ppt/notesSlides/notesSlide4.xml" Id="R3ebf5fcba7774d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c4f2d11054b10" /><Relationship Type="http://schemas.openxmlformats.org/officeDocument/2006/relationships/notesSlide" Target="/ppt/notesSlides/notesSlide5.xml" Id="Rc4e13f65d2964b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accdecd8b47ee" /><Relationship Type="http://schemas.openxmlformats.org/officeDocument/2006/relationships/chart" Target="/ppt/slides/charts/chart1.xml" Id="Rbcb21b65ef194493" /><Relationship Type="http://schemas.openxmlformats.org/officeDocument/2006/relationships/notesSlide" Target="/ppt/notesSlides/notesSlide6.xml" Id="R02108fd9444244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5f53a7ff442cb" /><Relationship Type="http://schemas.openxmlformats.org/officeDocument/2006/relationships/notesSlide" Target="/ppt/notesSlides/notesSlide7.xml" Id="Re2cacd8a0a8345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add4a5cf7462c" /><Relationship Type="http://schemas.openxmlformats.org/officeDocument/2006/relationships/notesSlide" Target="/ppt/notesSlides/notesSlide8.xml" Id="R932a9a25ecd44a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09e08fff74770" /><Relationship Type="http://schemas.openxmlformats.org/officeDocument/2006/relationships/chart" Target="/ppt/slides/charts/chart2.xml" Id="R30f42cbcf94a4139" /><Relationship Type="http://schemas.openxmlformats.org/officeDocument/2006/relationships/notesSlide" Target="/ppt/notesSlides/notesSlide9.xml" Id="Rd550247051d348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e1e9a15a646e1" /><Relationship Type="http://schemas.openxmlformats.org/officeDocument/2006/relationships/notesSlide" Target="/ppt/notesSlides/notesSlide10.xml" Id="Ra5f74864403243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86fae0a394b23" /><Relationship Type="http://schemas.openxmlformats.org/officeDocument/2006/relationships/notesSlide" Target="/ppt/notesSlides/notesSlide11.xml" Id="R8d164eddfce24f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4dd37d037436f" /><Relationship Type="http://schemas.openxmlformats.org/officeDocument/2006/relationships/chart" Target="/ppt/slides/charts/chart3.xml" Id="R2de10ea6627e4e4b" /><Relationship Type="http://schemas.openxmlformats.org/officeDocument/2006/relationships/notesSlide" Target="/ppt/notesSlides/notesSlide12.xml" Id="Rf9342e3ebcfb43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b780f4a2c42e3" /><Relationship Type="http://schemas.openxmlformats.org/officeDocument/2006/relationships/notesSlide" Target="/ppt/notesSlides/notesSlide13.xml" Id="R79b0e96683be46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b51ea498c4dbd" /><Relationship Type="http://schemas.openxmlformats.org/officeDocument/2006/relationships/notesSlide" Target="/ppt/notesSlides/notesSlide14.xml" Id="R03a87f555a0540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bfa2bebd94ed3" /><Relationship Type="http://schemas.openxmlformats.org/officeDocument/2006/relationships/chart" Target="/ppt/slides/charts/chart4.xml" Id="R83c291eca525476b" /><Relationship Type="http://schemas.openxmlformats.org/officeDocument/2006/relationships/notesSlide" Target="/ppt/notesSlides/notesSlide15.xml" Id="Rb4613719cbe14f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b5b2fc57d459c" /><Relationship Type="http://schemas.openxmlformats.org/officeDocument/2006/relationships/notesSlide" Target="/ppt/notesSlides/notesSlide16.xml" Id="Rc0cff0b8908043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62a90a4f342de" /><Relationship Type="http://schemas.openxmlformats.org/officeDocument/2006/relationships/notesSlide" Target="/ppt/notesSlides/notesSlide17.xml" Id="Raa5988a6401b45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a4486f8a14b95" /><Relationship Type="http://schemas.openxmlformats.org/officeDocument/2006/relationships/notesSlide" Target="/ppt/notesSlides/notesSlide18.xml" Id="Rb94fa09108e54c9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e44a366b14b46" /><Relationship Type="http://schemas.openxmlformats.org/officeDocument/2006/relationships/notesSlide" Target="/ppt/notesSlides/notesSlide19.xml" Id="Rb5752ac5c1ca47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1c5aa595b430f" /><Relationship Type="http://schemas.openxmlformats.org/officeDocument/2006/relationships/notesSlide" Target="/ppt/notesSlides/notesSlide20.xml" Id="R6d7264bb3bc64e5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Cases</c:v>
          </c:tx>
          <c:spPr>
            <a:solidFill xmlns:a="http://schemas.openxmlformats.org/drawingml/2006/main">
              <a:srgbClr val="165DFF"/>
            </a:solidFill>
          </c:spPr>
          <c:cat>
            <c:strLit>
              <c:ptCount val="6"/>
              <c:pt idx="0">
                <c:v>Reference</c:v>
              </c:pt>
              <c:pt idx="1">
                <c:v>Missing approval</c:v>
              </c:pt>
              <c:pt idx="2">
                <c:v>Approval rework</c:v>
              </c:pt>
              <c:pt idx="3">
                <c:v>Invoice discrepancy</c:v>
              </c:pt>
              <c:pt idx="4">
                <c:v>Late delivery</c:v>
              </c:pt>
              <c:pt idx="5">
                <c:v>3-way match</c:v>
              </c:pt>
            </c:strLit>
          </c:cat>
          <c:val>
            <c:numLit>
              <c:formatCode>General</c:formatCode>
              <c:ptCount val="6"/>
              <c:pt idx="0">
                <c:v>5078</c:v>
              </c:pt>
              <c:pt idx="1">
                <c:v>1325</c:v>
              </c:pt>
              <c:pt idx="2">
                <c:v>1108</c:v>
              </c:pt>
              <c:pt idx="3">
                <c:v>987</c:v>
              </c:pt>
              <c:pt idx="4">
                <c:v>768</c:v>
              </c:pt>
              <c:pt idx="5">
                <c:v>738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Bottleneck score</c:v>
          </c:tx>
          <c:spPr>
            <a:solidFill xmlns:a="http://schemas.openxmlformats.org/drawingml/2006/main">
              <a:srgbClr val="165DFF"/>
            </a:solidFill>
          </c:spPr>
          <c:cat>
            <c:strLit>
              <c:ptCount val="7"/>
              <c:pt idx="0">
                <c:v>Goods Received</c:v>
              </c:pt>
              <c:pt idx="1">
                <c:v>Invoice Received</c:v>
              </c:pt>
              <c:pt idx="2">
                <c:v>Delivery Delayed</c:v>
              </c:pt>
              <c:pt idx="3">
                <c:v>Payment Executed</c:v>
              </c:pt>
              <c:pt idx="4">
                <c:v>Payment Authorized</c:v>
              </c:pt>
              <c:pt idx="5">
                <c:v>Manager Approval</c:v>
              </c:pt>
              <c:pt idx="6">
                <c:v>Procurement Review</c:v>
              </c:pt>
            </c:strLit>
          </c:cat>
          <c:val>
            <c:numLit>
              <c:formatCode>General</c:formatCode>
              <c:ptCount val="7"/>
              <c:pt idx="0">
                <c:v>0.9241859786</c:v>
              </c:pt>
              <c:pt idx="1">
                <c:v>0.4566900756</c:v>
              </c:pt>
              <c:pt idx="2">
                <c:v>0.4184529579</c:v>
              </c:pt>
              <c:pt idx="3">
                <c:v>0.3734192507</c:v>
              </c:pt>
              <c:pt idx="4">
                <c:v>0.3050408351</c:v>
              </c:pt>
              <c:pt idx="5">
                <c:v>0.2791259372</c:v>
              </c:pt>
              <c:pt idx="6">
                <c:v>0.2783733263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Cases</c:v>
          </c:tx>
          <c:spPr>
            <a:solidFill xmlns:a="http://schemas.openxmlformats.org/drawingml/2006/main">
              <a:srgbClr val="165DFF"/>
            </a:solidFill>
          </c:spPr>
          <c:cat>
            <c:strLit>
              <c:ptCount val="4"/>
              <c:pt idx="0">
                <c:v>Low</c:v>
              </c:pt>
              <c:pt idx="1">
                <c:v>Medium</c:v>
              </c:pt>
              <c:pt idx="2">
                <c:v>High</c:v>
              </c:pt>
              <c:pt idx="3">
                <c:v>Critical</c:v>
              </c:pt>
            </c:strLit>
          </c:cat>
          <c:val>
            <c:numLit>
              <c:formatCode>General</c:formatCode>
              <c:ptCount val="4"/>
              <c:pt idx="0">
                <c:v>880</c:v>
              </c:pt>
              <c:pt idx="1">
                <c:v>708</c:v>
              </c:pt>
              <c:pt idx="2">
                <c:v>446</c:v>
              </c:pt>
              <c:pt idx="3">
                <c:v>366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270"/>
        <c:holeSize val="58"/>
      </c:doughnutChart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cycle hours</c:v>
          </c:tx>
          <c:spPr>
            <a:solidFill xmlns:a="http://schemas.openxmlformats.org/drawingml/2006/main">
              <a:srgbClr val="165DFF"/>
            </a:solidFill>
          </c:spPr>
          <c:cat>
            <c:strLit>
              <c:ptCount val="4"/>
              <c:pt idx="0">
                <c:v>Baseline</c:v>
              </c:pt>
              <c:pt idx="1">
                <c:v>Approval automation</c:v>
              </c:pt>
              <c:pt idx="2">
                <c:v>AP capacity</c:v>
              </c:pt>
              <c:pt idx="3">
                <c:v>Combined</c:v>
              </c:pt>
            </c:strLit>
          </c:cat>
          <c:val>
            <c:numLit>
              <c:formatCode>0" h"</c:formatCode>
              <c:ptCount val="4"/>
              <c:pt idx="0">
                <c:v>206.6048536586</c:v>
              </c:pt>
              <c:pt idx="1">
                <c:v>200.1196977885</c:v>
              </c:pt>
              <c:pt idx="2">
                <c:v>203.0352200934</c:v>
              </c:pt>
              <c:pt idx="3">
                <c:v>166.484485467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B"/>
              </a:solidFill>
              <a:prstDash val="solid"/>
            </a:ln>
          </c:spPr>
        </c:majorGridlines>
        <c:numFmt formatCode="0&quot; h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4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0B95C2-6CA5-4EB8-BE4B-F3F795EB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76300"/>
            <a:ext cx="5286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Enterprise Process Mining</a:t>
            </a:r>
          </a:p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&amp; Intelligent Workflow Optimization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B3578-6636-4248-9192-F29945DB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Purchase-to-Pay Executive Deck</a:t>
            </a:r>
          </a:p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Yönetici Sunumu · EN / TR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390525" y="4286250"/>
            <a:ext cx="4762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560DB-AF25-40C8-A6FB-463B430F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529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Murat Miraç Gedik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Business &amp; Data Analyst Portfolio · July / Temmuz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1803B-9082-45D8-ACD7-991F68B3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90550"/>
            <a:ext cx="5829300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8D0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408544003411d"/>
          <a:stretch xmlns:a="http://schemas.openxmlformats.org/drawingml/2006/main"/>
        </p:blipFill>
        <p:spPr>
          <a:xfrm xmlns:a="http://schemas.openxmlformats.org/drawingml/2006/main">
            <a:off x="6143625" y="1657350"/>
            <a:ext cx="5486400" cy="30861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48C5E-E867-4DCA-83C4-888E600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3321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9986FE-2B60-4E55-AD9A-A5AC2D21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process loses performance in waiting, not touch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168CB-F9A4-48B9-B4DC-1C972925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Yönetici özeti · Bekleme, çevrim süresini ve SLA'i belirliyor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3FECC-B948-4FEC-8032-4FC98D09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121BF-07DA-4B95-AEB8-51A55DB1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38DE9-62C7-4276-B71A-5DB84DFC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5732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12,000 deterministic cases show a control-heavy Purchase-to-Pay process with low straight-through execution and material SLA exposure.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64EFF-820A-4D38-8C4E-E5BAE5FA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38425"/>
            <a:ext cx="357187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6BF6A-713D-43AB-9B70-EE0360F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38425"/>
            <a:ext cx="666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F1ED1-EF79-4C4D-B1C8-43B1D91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47975"/>
            <a:ext cx="3171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SLA ADHERENCE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B714E-D839-47C0-AE30-AEBBD66D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317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62.08%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73BC0-A2FB-4F4F-964A-08E8D7D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4,550 breached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90D1B-AA70-494C-B6D7-19B04479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38425"/>
            <a:ext cx="357187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3A9C9-5456-4D6E-B6F6-FD8C4C20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38425"/>
            <a:ext cx="666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32252-33F5-41B9-9476-479FA3E7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47975"/>
            <a:ext cx="3171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REWORK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EC06A-40AD-4F4D-9765-0E81996C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317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21.98%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997FD-A053-4D6B-8D5C-772F1BA4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2,638 cases with repetition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C5138-ED3E-4A10-9056-A639ECAC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357187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96A8C-0A4C-4343-B0E9-268957C8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666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5C3BC-01A3-4B3A-B557-278F44FF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47975"/>
            <a:ext cx="3171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ESTIMATED WAIT SHARE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B8313-D4E6-4C0E-9832-E76B3C6E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00400"/>
            <a:ext cx="317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98.40%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FAEEA0-DA2D-4F4E-892E-0C3EE7D3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00600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cycle time minus touch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53CE0-EC02-4F60-98E5-59121677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00A8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1B0BB-A967-4AB0-8C3B-FB414F9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Decision: pilot the combined scenario — 19.42% modeled cycle reduction, +13.63 pp SLA uplift, $2.21M annual value.</a:t>
            </a:r>
          </a:p>
        </p:txBody>
      </p:sp>
    </p:spTree>
    <p:extLst>
      <p:ext uri="{BB962C8B-B14F-4D97-AF65-F5344CB8AC3E}">
        <p14:creationId xmlns:p14="http://schemas.microsoft.com/office/powerpoint/2010/main" val="908455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8856A-43B6-4A67-9FF0-EABC3A7E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Yönetim kararı: kontrollü birleşik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A76BE-2A8D-473D-83A3-F9616CEE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Executive summary · Kanıttan müdahaleye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CB6DD-22FE-4564-97BD-84084538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29FA4-4CB3-41BA-A181-401F55C3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24D38-291E-46A4-931D-A8C141BB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002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Sorun yalnızca süreç varyantı değil; bekleme, onay sapması ve fatura istisnasının birlikte oluşturduğu operasyonel kayıptır.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BACDC-9990-4E57-A576-7067BE98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338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Öneri; düşük riskli onay yönlendirmesi, hedefli AP/Hazine kapasitesi ve tedarikçi teslim süresi müdahalesini tek pilotta birleştirir.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D40AB-315B-4C22-B03F-A1F92B15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25812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53A97-E904-4CCA-B585-20BDE8F4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97185-5BDB-42E3-ADFF-7FA3991B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38300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ÇEVRIM AZALMASI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D297F-675F-484F-84CB-99D8A1B4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90725"/>
            <a:ext cx="2181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%19,42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2D430-1D44-4AFB-89D6-638E843F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81300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40,12 saat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77519-5344-4183-A428-52D629D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25812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110EB-43D4-4A9E-BE5A-1A30109D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69778-C66A-4B56-A8E6-A43FA71D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38300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SLA ARTIŞI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F6C60-8BF3-4BCF-A349-B974398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90725"/>
            <a:ext cx="2181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+13,63 puan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FB3DF-ACDA-46F6-8BB1-F9B78F3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%77,64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62258-4C38-473E-99E7-5FAE70C8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9500"/>
            <a:ext cx="25812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A8749-DA2C-4DA4-A9F7-5A87CA89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9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7527F-BA7F-46AA-A6C7-70E2E27F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29050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YILLIK DEĞER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2858C-3879-462C-90E1-9C664E76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81475"/>
            <a:ext cx="2181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2,21M $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A7DE2-5FC3-4F2A-AF82-A3EF8033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72050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sentetik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44336-B498-4746-8A24-C44BC72E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25812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73B86-439E-4CCC-BCB3-87EDFF23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726A7-9924-47D1-97C9-4D5FA093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29050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İLK YIL ROI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D478A7-8C79-4F8F-902D-CDBA4E45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81475"/>
            <a:ext cx="2181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8,84x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B4C502-EB77-45EC-A882-CA900B00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225 bin $ yatırım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01E25-8A87-47D8-BEF8-60E72330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ED921-DE63-480D-ACFC-775439BB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Kontrol sınırı: risk skoru yalnızca insan incelemesini önceliklendirir; onay, ret veya ödeme işlemi yapmaz.</a:t>
            </a:r>
          </a:p>
        </p:txBody>
      </p:sp>
    </p:spTree>
    <p:extLst>
      <p:ext uri="{BB962C8B-B14F-4D97-AF65-F5344CB8AC3E}">
        <p14:creationId xmlns:p14="http://schemas.microsoft.com/office/powerpoint/2010/main" val="1400475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27655-67DE-4EA3-8E9D-74CECA8C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reference process spans six control zones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8C528-39FF-4A96-8A45-BA0D8EDF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Referans süreç · 13 BPMN aktivitesi, 6 yönetim alanı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589D3-DB30-4D4B-B764-FF10D288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92EDE-85DD-4CEA-8E78-35B121D8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1933575" y="3124200"/>
            <a:ext cx="466725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5DFF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3810000" y="3124200"/>
            <a:ext cx="466725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5DFF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5686425" y="3124200"/>
            <a:ext cx="466725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5DFF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7562850" y="3124200"/>
            <a:ext cx="466725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5DFF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9439275" y="3124200"/>
            <a:ext cx="466725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5DF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1B417-BDFC-423F-88A2-4D496AE4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409700" cy="147637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DD7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86A72-E852-49F7-9680-C3D9800D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4E60C-452D-46AF-BD2F-B0F3789D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109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Request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Talep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2759E-B3BF-4FCE-9B21-C3633826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1250"/>
            <a:ext cx="1409700" cy="147637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DD7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31300-51C0-4B77-ACC8-2E6B1D0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68FAB-8DD3-4893-B8E8-5A399F4B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109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Approval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CA268-7B02-4CC3-9881-FAE4FE2F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81250"/>
            <a:ext cx="1409700" cy="147637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DD7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2FA1F-5D06-44E7-8F07-F4F48666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7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C2C9F-FA69-4A9C-8DA4-09683CF8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0375"/>
            <a:ext cx="109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Purchase order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Sipariş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FCFA1-1C4A-4BDF-97E7-B4F48C6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1409700" cy="147637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4EEFF"/>
          </a:solidFill>
          <a:ln xmlns:a="http://schemas.openxmlformats.org/drawingml/2006/main" w="9525">
            <a:solidFill>
              <a:srgbClr val="CDD7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BE2F2-5B87-4F93-BEE5-2907E671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CE6330-CD4A-42BD-B2AB-515A37B6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109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Goods receipt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Mal kabul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9DAAD-03D4-472D-8692-623E89E5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81250"/>
            <a:ext cx="1409700" cy="147637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4EEFF"/>
          </a:solidFill>
          <a:ln xmlns:a="http://schemas.openxmlformats.org/drawingml/2006/main" w="9525">
            <a:solidFill>
              <a:srgbClr val="CDD7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72553-4042-47F9-B398-D948C1A8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57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E017B-9745-4175-9843-457BE1B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00375"/>
            <a:ext cx="109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Invoice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Fatura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141551-3EE3-4C34-9B91-CAB24903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409700" cy="147637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74F9D2-16FF-46D8-8591-3792C945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7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E80D8-3F12-478C-BE7F-2735C329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00375"/>
            <a:ext cx="109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 &amp; close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Öde / kapat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8E5F6E-E330-45BD-8FAD-B9BD423B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33051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429345-6A4E-4A58-ACFE-50C609E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29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DB16FD-ADF7-4072-8D2D-A76D2C35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Approval exception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923FEA-6E9E-4F4E-8163-A6FD990C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62500"/>
            <a:ext cx="2847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Missing approval: 1,536 cases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Repeated approval: 1,259 cases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33B25D-43B4-41F1-AF63-F7B74A59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33051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4F61EB-51E6-48E1-AC33-77C1A4F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29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DE99CD-E317-4339-8729-C490B6A8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62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Delivery exception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4C9686-B38C-48B8-8AA0-F5F89C18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2847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Delivery delayed: 1,551 cases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P90 wait: 160.82 hours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A17B11-3162-4A78-B9DD-9730498E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3051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EE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9630AA-DB19-4EF3-A4A2-4D3E1891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A50560-4D65-496C-9928-47037B3C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62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Invoice exception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35D095-6E0C-4E6B-9560-79D6B2C2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47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Blocked invoice: 1,159 cases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Duplicate-check repetition: 744</a:t>
            </a:r>
          </a:p>
        </p:txBody>
      </p:sp>
    </p:spTree>
    <p:extLst>
      <p:ext uri="{BB962C8B-B14F-4D97-AF65-F5344CB8AC3E}">
        <p14:creationId xmlns:p14="http://schemas.microsoft.com/office/powerpoint/2010/main" val="1080190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BE2AA-F16B-4A38-B8FD-C49F9760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benchmark is reproducible and reconciled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671B5-93A0-42A8-A873-7377C850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Veri temeli · Sabit seed, sıfır zorunlu alan boşluğu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4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ED5E4-B061-4D2C-81E3-32196C21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45518-86C5-4A9E-92BE-88030AB1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16AD2-E310-42E8-A6B2-FC58C15E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1410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committed event log is a versioned analytical benchmark, not a presentation-only sample.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90525" y="2143125"/>
          <a:ext xmlns:a="http://schemas.openxmlformats.org/drawingml/2006/main" cx="114109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2190750"/>
                <a:gridCol w="5981700"/>
              </a:tblGrid>
              <a:tr h="489857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Acceptance gate</a:t>
                      </a:r>
                    </a:p>
                  </a:txBody>
                  <a:tcPr marL="91440" marR="91440" marT="45720" marB="45720">
                    <a:solidFill>
                      <a:srgbClr val="13213C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13213C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13213C"/>
                    </a:solidFill>
                  </a:tcPr>
                </a:tc>
              </a:tr>
              <a:tr h="489857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Event volume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166,551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Exceeds the 100k-event portfolio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Case population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12,000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Reconciles to the event identifiers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489857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Duplicate event keys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Unique case_id + event_index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Required-field nulls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Case, activity and timestamp complete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489857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Timestamp ordering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Monotonic within each case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Regeneration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Byte-for-byte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Fixed seed and gzip timestamp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5D641-C079-4ED5-9397-31CE2B24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65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94FF5-7A8D-42F6-AC5B-3BD3A893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Tekrarlanabilirlik: CI, yeniden üretilen sıkıştırılmış olay ve vaka dosyalarını birebir karşılaştırır.</a:t>
            </a:r>
          </a:p>
        </p:txBody>
      </p:sp>
    </p:spTree>
    <p:extLst>
      <p:ext uri="{BB962C8B-B14F-4D97-AF65-F5344CB8AC3E}">
        <p14:creationId xmlns:p14="http://schemas.microsoft.com/office/powerpoint/2010/main" val="8128612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9F51D-BCC5-4FEB-9F57-C6396D3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reference path is common, but not dominant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9E162-1BCB-4B40-B3C6-79F3387D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Süreç keşfi · 14 varyant, referans yol payı %42,32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D4E51-2AB5-4E17-96B5-6FD0AEBF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A0E4F-E3E5-434C-BFA5-A2F542E9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390525" y="1495425"/>
          <a:ext xmlns:a="http://schemas.openxmlformats.org/drawingml/2006/main" cx="5905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b21b65ef19449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3BF5E-781E-414F-BF2E-4609EE9A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95425"/>
            <a:ext cx="5095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9AE8E-A336-414D-ADED-F235AF59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52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7A177-4228-4281-AC49-0C36E153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859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42.32% straight-through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54636-9D33-4D28-8B4C-B0E8AB08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85975"/>
            <a:ext cx="4638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5,078 cases follow the exact 13-step reference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7AACF-895B-43DF-AA8E-0EECD375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62275"/>
            <a:ext cx="5095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EE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8D850-8AE8-409B-B8AC-5663CC1F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9FBE3-A924-40FC-B3BB-D5237495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527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62.59% in the top three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CBD81-DD9D-49E7-8F62-B17FD453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52825"/>
            <a:ext cx="4638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reference path, missing approval and approval rework account for most observed volume.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5980B-F73A-4DD3-A570-9796F468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29125"/>
            <a:ext cx="5095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A2D7C-F1C8-4AA8-B43C-83A3F9D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86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EDE54-DE89-4060-AD1D-75383661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96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47EF1-DAC9-4D64-AE62-23E52002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9675"/>
            <a:ext cx="4638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Standardization must target control exceptions, not only the happy path.</a:t>
            </a:r>
          </a:p>
        </p:txBody>
      </p:sp>
    </p:spTree>
    <p:extLst>
      <p:ext uri="{BB962C8B-B14F-4D97-AF65-F5344CB8AC3E}">
        <p14:creationId xmlns:p14="http://schemas.microsoft.com/office/powerpoint/2010/main" val="1117495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1BA804-7B75-4339-834F-0B11C766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Three exception families fragment the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0199C-934E-404D-B2BA-96DCC3B4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Varyant karşılaştırması · Onay, teslimat ve fatura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4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B2468-BDA5-4B41-B0F3-2AA57188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AA52A-FCEA-4149-8568-73AB8C5F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F85E6-116A-40F2-86DD-59FD8FF2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357187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93EBE-9CB7-48C5-AC5F-25028FDF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38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86FF4-5A10-4752-A8B2-6264ED3F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8B40F-816F-478F-802F-9132E6C2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3114675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1,536 missing approvals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1,259 repeated approvals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1,259 request-rework cases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Risk: control inconsistency and avoidable loop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C0A5D-1511-4BB5-BB7C-D8EC32F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81150"/>
            <a:ext cx="357187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41605-A2C7-41AB-A386-ACA47E4F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38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E4745-042C-49B2-8225-C8424FB2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77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05613-B42E-48CB-9AE4-E6A4F41C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3114675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1,551 delayed-delivery cases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100.46 h average exception wait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160.82 h p90 exception wait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Risk: supplier variability dominates elapsed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21724-AB45-4A46-A814-0F792E88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357187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4EE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C71CA-6545-408B-9267-06BD93B9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38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2F8AF-1927-40C7-928E-2B302C93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7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Invoice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9968E-ADA1-452D-9C67-0DAF69C0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114675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1,159 blocked invoices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822 three-way-match failures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744 duplicate-check repetitions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Risk: exception queues consume AP capacity.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8FAC6-4899-47C4-888E-8495C025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00A8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64ECB-A036-4A6B-B137-15AF784D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Öncelik sırası: kontrol standardizasyonu → tedarikçi süre varyansı → AP istisna kapasitesi.</a:t>
            </a:r>
          </a:p>
        </p:txBody>
      </p:sp>
    </p:spTree>
    <p:extLst>
      <p:ext uri="{BB962C8B-B14F-4D97-AF65-F5344CB8AC3E}">
        <p14:creationId xmlns:p14="http://schemas.microsoft.com/office/powerpoint/2010/main" val="416557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030B2-0FCE-432C-AA6B-A386A28A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High average fitness masks low exact conformance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E9EAE-647F-447C-AB2E-3FD3F869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Conformance checking · Ortalama yakınlık yüksek, tam uyum düşük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03C58-AF6B-4D7A-A3BD-D809C0CB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33C25-13DF-4B89-89A9-90C7BE3A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960F6-CA44-432A-84C9-85B11E65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65784-939E-4078-B02C-D85A7007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48DAB-423D-4D4B-A75B-7C2AAE64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MEAN FITNESS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A73CC-3246-44AF-A425-E0C10BBE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91.62%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07B4E-8757-43CE-99FA-B3E4F22E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normalized edit 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4FB17-74D8-4194-A0FF-F34843C4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524000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B6286-2121-4115-9669-1D7A4FB8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52400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4407A-6970-4F17-A6B6-F106798D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33550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EXACT CONFORMANCE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AF5B5-60A0-4D57-8BE3-CF90DBA0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85975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42.32%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69E5C-6C24-419F-995A-C3638CC4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7336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5,078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3C838-67CD-4435-B7D0-6F3FFE4A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524000"/>
            <a:ext cx="4286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10A83-2136-4646-AD51-0CDA0B9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52400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4CD60-BBFB-4987-9D31-63DF6922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733550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NONCONFORMANT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6F5A1-7C19-4613-A2AD-619D83A1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85975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6,922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8E94A-7E2A-466B-A3AA-559EA729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733675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57.68% of the population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390525" y="3590925"/>
          <a:ext xmlns:a="http://schemas.openxmlformats.org/drawingml/2006/main" cx="1141095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05250"/>
                <a:gridCol w="1619250"/>
                <a:gridCol w="5886450"/>
              </a:tblGrid>
              <a:tr h="3619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Deviation</a:t>
                      </a:r>
                    </a:p>
                  </a:txBody>
                  <a:tcPr marL="91440" marR="91440" marT="45720" marB="45720">
                    <a:solidFill>
                      <a:srgbClr val="13213C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Cases</a:t>
                      </a:r>
                    </a:p>
                  </a:txBody>
                  <a:tcPr marL="91440" marR="91440" marT="45720" marB="45720">
                    <a:solidFill>
                      <a:srgbClr val="13213C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3213C"/>
                    </a:solidFill>
                  </a:tcPr>
                </a:tc>
              </a:tr>
              <a:tr h="3619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Delivery Delayed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1,551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Unexpected path activity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Manager Approval missing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1,536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Control bypass / fast track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619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Manager Approval repeated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1,259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Approval rework loop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Invoice Blocked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1,159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Invoice exception queue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FC504-C320-411F-8CD0-3B52EE3F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BE8CE-22E7-4839-ABC3-6A165D02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Fitness tek başına yeterli değildir: tam uyum, sapma türü ve vaka etkisi birlikte yönetilmelidir.</a:t>
            </a:r>
          </a:p>
        </p:txBody>
      </p:sp>
    </p:spTree>
    <p:extLst>
      <p:ext uri="{BB962C8B-B14F-4D97-AF65-F5344CB8AC3E}">
        <p14:creationId xmlns:p14="http://schemas.microsoft.com/office/powerpoint/2010/main" val="33049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27D3BD-D347-4D66-8C0F-6DA79158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Goods receipt dominates wait exposure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DB53E-3665-4E53-AFDF-7F362FF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Darboğaz analizi · Toplam bekleme, p90 ve vaka kapsaması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6150E-559D-4E28-A4F7-A6656B49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BE60F-2BB8-4205-82C4-5FEA9C68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390525" y="1428750"/>
          <a:ext xmlns:a="http://schemas.openxmlformats.org/drawingml/2006/main" cx="6905625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f42cbcf94a413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9F3AD-1373-4BE6-83D3-2900BA3C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41052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75DD5-3023-4993-A9CF-F23EC639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CCB54-9730-4587-8E23-7C3436B5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3705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GOODS RECEIPT WAIT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F49B6-6B16-4243-A2BA-CFC1F05A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19325"/>
            <a:ext cx="3705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865,100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D53D6-7365-4CAF-9C32-C9569E0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62275"/>
            <a:ext cx="3705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all 12,000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F93B9-B79E-4F70-A29F-B7731C7F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76650"/>
            <a:ext cx="41052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F5E1F-8EBE-4B58-B564-CE36AE23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7665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87071-FC28-46B7-A8D3-BE8E7D5B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705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DELIVERY P90 WAIT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175D7-6E64-49DD-A33A-990C1607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38625"/>
            <a:ext cx="3705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160.82 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D5266-2036-45B8-8794-141AFB1D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81575"/>
            <a:ext cx="3705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1,551 exception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F0CFC-FB4D-4A61-8260-652F663A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41052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00A8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5DEE7-6F5B-4BA9-B262-8EB0B441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6673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Operational focus: supplier-to-receipt lead time first; invoice and payment queues second.</a:t>
            </a:r>
          </a:p>
        </p:txBody>
      </p:sp>
    </p:spTree>
    <p:extLst>
      <p:ext uri="{BB962C8B-B14F-4D97-AF65-F5344CB8AC3E}">
        <p14:creationId xmlns:p14="http://schemas.microsoft.com/office/powerpoint/2010/main" val="1608284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05609-065C-4D5C-9BFD-27599AF9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Cycle time is 98.40% estimated waiting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3315E-82C0-4C8C-8604-FE8394AF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Bekleme ve yeniden işleme · Dokunma süresi sorunun küçük bölümüdür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9CA2D-4F25-4DCE-A311-BCAC798E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2C721-DF62-4DC7-8A03-0CDF7896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519A2-D636-44F1-81A7-A6ACBDB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47800"/>
            <a:ext cx="11410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improvement case is a queue-and-handoff problem. Adding automation without redesigning ownership and exception flow will not remove the dominant delay.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B2CBE-62E1-433D-9881-0E1537FC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19375"/>
            <a:ext cx="357187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6AB72-9687-4111-81B4-A704FC95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193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600D1-2569-4D9D-A721-F877B044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3171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WAIT SHARE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C2669-1F69-4F52-807B-E32ED6F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1350"/>
            <a:ext cx="317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98.40%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9DBDD-CB93-44EF-9CA0-6FED7D16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cycle minus processing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61E89-6582-4E39-B3CB-1BDD007B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19375"/>
            <a:ext cx="357187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5D499-D966-46BE-9385-3BFDBA85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193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797DD-BBA5-4574-B3DF-4ABCE89F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28925"/>
            <a:ext cx="3171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REWORK CASE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0E6BC-3D65-4597-A115-1307AC41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317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21.98%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C0831-2EA1-40B5-9776-67FCA671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2,638 affected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62743-B960-44C4-B0C1-D02D3213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19375"/>
            <a:ext cx="357187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626A1-EAC2-49BB-9E53-A21F334D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193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DF701-B7A1-4F66-8DD9-591D999B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28925"/>
            <a:ext cx="3171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AUTOMATION EVENT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A859A-C1E4-4093-88AF-6563B701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17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36.47%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51EA4-EE3C-44FE-9C51-45800588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33925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 governed automated activities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90989-E016-4EB3-A178-AC41A1F9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31461-737C-492B-BFBF-9E5D5BA2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Türkçe özet: otomasyon, sahiplik ve istisna akışı yeniden tasarlanmadan tek başına çevrim süresini çözmez.</a:t>
            </a:r>
          </a:p>
        </p:txBody>
      </p:sp>
    </p:spTree>
    <p:extLst>
      <p:ext uri="{BB962C8B-B14F-4D97-AF65-F5344CB8AC3E}">
        <p14:creationId xmlns:p14="http://schemas.microsoft.com/office/powerpoint/2010/main" val="167265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3D807-D934-43ED-8D91-15C03BEE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SLA risk is scored at Purchase Order creation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9E4DA-CA64-4272-A2EA-D0CDF894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Tahmin tasarımı · Gelecek bilgisi kullanılmadan zamansal holdout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FDE49-DDEC-4E3D-8753-E7FD039B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FCF89-A51D-4E6D-B780-F03B5DE4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762000" y="3143250"/>
            <a:ext cx="10287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66290-474B-4B90-83E5-CFD42AF5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98A1B-67D6-4182-9CEA-2F30BFD7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Event cut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49B91-9DFD-46C5-9E1E-F3B34AF3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Feature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349BF-195B-4275-B147-356026F5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2238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Use only data known by PO creation.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Veri sızıntısını sınırla.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1DD6B-E691-4E0C-9135-B8E807D8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C235A-4FCE-4254-B44F-53F8AB8B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80% earliest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46DA5-7417-4D63-A4FF-43B7DEF4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671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35296-914C-4B22-830B-CC890794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24325"/>
            <a:ext cx="2238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9,600 chronologically earlier cases.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68547-EA9D-497F-A3FA-98FA4200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F041E-519D-43EA-8347-749BDA4F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20% latest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E16A2-29FB-4B4F-AD6F-B9B42CB7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671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Holdout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4FF0C-01BF-4BF7-A98D-A9BC2553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24325"/>
            <a:ext cx="2238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2,400 future-like cases kept untouched.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83CAC-ACC4-4F75-91AA-EEFA413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C69EE-85EE-4E66-B716-B1FFB93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7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65642-2AD4-4AF3-B7A9-1B037873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671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0D785-A640-40F4-8E95-03103708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24325"/>
            <a:ext cx="2238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Four risk bands prioritize analysts only.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279FC0-7C64-40CC-B81D-EF128341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202BF-FBB9-43EF-A7EA-0F0FAEBE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Governance: the score cannot approve, reject, authorize or execute a transaction.</a:t>
            </a:r>
          </a:p>
        </p:txBody>
      </p:sp>
    </p:spTree>
    <p:extLst>
      <p:ext uri="{BB962C8B-B14F-4D97-AF65-F5344CB8AC3E}">
        <p14:creationId xmlns:p14="http://schemas.microsoft.com/office/powerpoint/2010/main" val="290688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7B03A-BE0C-4F88-A3E5-FC5A120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temporal holdout supports review prioritization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4778E-23A3-4356-8B34-A1D91798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Model performansı · Ayırt etme güçlü, üretim kalibrasyonu gerekli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11480-79CF-44B9-BF57-9EA0EDB4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DB1D2-EEDD-4ECD-926F-445BF956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390525" y="1428750"/>
          <a:ext xmlns:a="http://schemas.openxmlformats.org/drawingml/2006/main" cx="528637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e10ea6627e4e4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231E6-3AEB-49E8-BEA7-2BB3A2A4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194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812 high + critical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F131E-20A5-4D50-8265-F1192D7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2590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986A9-823F-4CC4-87DA-D31C32C6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635F2-5E5A-4A2E-9A64-3AC826D0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7335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A9F0B-AFDE-4ED1-A47A-8EFD5E79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859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0.822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82609-6D37-4579-94F5-7C23817F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76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temporal discrimination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1C2FB-FF18-43D3-B74B-0ED41629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524000"/>
            <a:ext cx="2590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4E3C4-F683-47B0-8803-F35D6312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5240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DA15C-9FA6-44E9-9103-AFB7AB90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7335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AVERAGE PRECISION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ADAE1-33B3-4BC2-BF9F-E3BEDA6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859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0.755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C1381-B08F-4B1C-8483-12AE3F67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76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positive-class ranking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77697-D2A5-4ACD-A3E2-9A9FD06F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48075"/>
            <a:ext cx="2590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1B345-6A1A-4319-829F-8FEB7E90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480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2D855-82B4-4C21-820D-5D8245AE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576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536ED-78D5-485F-B948-26F8424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10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69.30%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A720A-8B3B-40B0-AAD1-723B5A78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00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614 / 886 breaches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2A0704-3394-44A4-ACEC-289FC5A5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48075"/>
            <a:ext cx="2590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C86C4-2FAF-4EA9-A0D7-FCC938E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480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E2A91-2506-4DFC-BB04-D079582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8576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BRIER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2328E-B57D-476D-A749-68CD9493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10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0.169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A7D8B-F76A-4E5D-896C-8556B449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000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lower is better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DFA0A8-2566-417B-840C-B76A4CD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4ECC65-C0D4-440D-99BB-7224B512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Production gate: probability calibration, subgroup error analysis, drift monitoring and a cost-based threshold.</a:t>
            </a:r>
          </a:p>
        </p:txBody>
      </p:sp>
    </p:spTree>
    <p:extLst>
      <p:ext uri="{BB962C8B-B14F-4D97-AF65-F5344CB8AC3E}">
        <p14:creationId xmlns:p14="http://schemas.microsoft.com/office/powerpoint/2010/main" val="553997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F3A8C-CD50-48DC-A8CF-89616976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Urgent priority and tier-C vendors lead modeled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94701-A39F-4D4C-BB09-6F7B01D1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Açıklanabilirlik · Katsayılar ilişkiyi gösterir, nedenselliği değil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83E03-2D96-4ABB-83B0-A3B2FEE1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9F33A-0CBF-485D-BA6F-B821A8EA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E0EB9-4820-452C-B78B-3DA842C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620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● Higher modeled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369B3-4957-4734-85B7-3A5BD750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878"/>
                </a:solidFill>
                <a:latin typeface="Arial"/>
                <a:ea typeface="Arial"/>
                <a:cs typeface="Arial"/>
              </a:rPr>
              <a:t>● Lower modeled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FAE3B-99BA-4DD2-910F-C47A9D0B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Urgent 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AC211-1CFE-4DF1-A91D-A270D01F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335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EB7B1-D602-4766-BCC4-AAA07054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335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516A1-A8F2-459E-AC60-16223F8F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049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+2.38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3C7CA-7765-460D-B42D-643DAB10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Strategic 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705DF-393B-4C5F-A245-223EF82B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09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B39F0-ABAF-43F2-882A-46383AE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09800"/>
            <a:ext cx="349290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24B50-B9ED-4BB3-9794-CD3AFF6D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812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−1.98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69F08-0581-43C9-AA6C-6C39C2FE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Vendor C 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872E7-7F8D-4DD6-BF0D-7ED013BC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860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FB9D2-4854-4E65-B7D5-7E20E7B7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86050"/>
            <a:ext cx="237682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68CAF-2614-45BA-A9DB-70EAF4C7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57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+1.35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6035B-682A-4820-9DB8-A7FE5065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Vendor A 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2914F-E913-446E-B876-FC662B3C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623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5668B-F242-4323-AF4F-1E5DBA2B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62300"/>
            <a:ext cx="190580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99B68-E55B-4068-862C-3DC6E0C5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337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−1.08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EE88DE-1F1B-4F0C-BA73-75F62231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PO lead time 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030BC-4704-4F9A-B9EE-BBD13152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385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B3CF7-52A4-4C3D-B5B3-29931E2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38550"/>
            <a:ext cx="911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667D6C-6A21-4EC2-A8D6-581F3EC8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099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+0.52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DB6D1-0110-4B25-A2B0-A15BD6A3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Standard 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22BE42-C0F1-44C5-B814-5995CDD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ADA0FD-ED51-43FA-9FA5-638A060D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66209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43BD9-F82F-4E8E-A2D1-546E96C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862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−0.38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E41549-9987-4481-A509-429B1DF6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Early rework 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9114B3-0CE1-4824-BB4C-8EA5FF5E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9A2922-230C-4135-895C-B0C26A84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49560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931DDF-5FC4-4D0F-84F4-C93BC788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562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−0.28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DD877F-D28F-4F98-B4C3-925307F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482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Vendor B 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65371E-8C0D-44CA-9245-41100EA0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673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28B338-3F58-437F-B846-0CB2EA62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67300"/>
            <a:ext cx="43501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7BDD1D-EB71-4E59-A271-25A03E73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0387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−0.25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22DB45-5AE5-459C-9A60-31D85E54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04950"/>
            <a:ext cx="4638675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84A011-AA4F-47CB-B835-41780773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62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99DDC9-214F-4E12-9044-0218820E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6954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819909-4364-46AE-BC19-D41EB59D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41814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Signed coefficients describe the fitted feature space. They do not prove a causal effect.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6AE7D9-3436-4924-BAEA-73330690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4638675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646900-D18C-4920-A52A-BCD3C884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86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F07B63-E42A-4A94-BC39-66FA77F6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194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Fairness risk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9B1276-3B72-49F6-BA29-686BC1B2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19500"/>
            <a:ext cx="41814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Country and organizational fields may proxy for process differences; subgroup testing is required.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5FF8AC-D001-43D4-83D4-A1A29B4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638675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4E6544-354F-4882-B8FF-7A4D558B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10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3E7E87-6F7E-4FED-99FD-EEAD6D23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434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Safe use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7B7AFA-F4D5-4A12-B79F-574E2A98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43500"/>
            <a:ext cx="41814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Prioritize analyst review and retain normal approval, matching and payment controls.</a:t>
            </a:r>
          </a:p>
        </p:txBody>
      </p:sp>
    </p:spTree>
    <p:extLst>
      <p:ext uri="{BB962C8B-B14F-4D97-AF65-F5344CB8AC3E}">
        <p14:creationId xmlns:p14="http://schemas.microsoft.com/office/powerpoint/2010/main" val="8780161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89FE4E-6975-4D18-B842-F05BB6F5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what-if model compares paired capacity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CE45-1713-4D45-810E-79533AE1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Simülasyon yöntemi · Ortak seed, 24 tekrar × 900 vaka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4D07B-67F7-43D8-9C14-98E3FC43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2B521-7C17-4857-9882-144AACFA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90550" y="3190875"/>
            <a:ext cx="11010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C4642-3D66-4889-9E70-23FC5FE8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BD414-944D-4211-835D-40BC47D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Observed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8339F-ED77-46C3-901E-207B7527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6 constrained stages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195 h external lead time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16% invoice rework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29A56-A194-46E7-B9E2-41D1D1F6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8A991-7B0D-4ABF-8E25-52924E8B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Paired simulation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523AC-9591-41BA-ABCA-05DD14AD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576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24 replications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900 cases each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shared random seeds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DC783-7883-43FA-B878-1F4B58E2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F8B74-5735-4FE2-9FF3-5E5332E4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Decision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438CB-27BA-4080-AB7E-2063AC29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576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Cycle · SLA · throughput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manual hours · value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first-year ROI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D88CE-DFC3-49A6-80AE-062707C9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F2306-1955-403D-B9B8-B3AAE2B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Pilot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E5C1B-D780-4850-8BD6-D1AA8371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Replace cost inputs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run sensitivity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measure causal effect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080BE-FBDF-4E79-97C2-D12F0CB3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57825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8FC1F-7AC5-481A-95A1-6637B9C1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Simülasyon kararı destekler; nedensel etki veya garanti edilmiş tasarruf kanıtı değildir.</a:t>
            </a:r>
          </a:p>
        </p:txBody>
      </p:sp>
    </p:spTree>
    <p:extLst>
      <p:ext uri="{BB962C8B-B14F-4D97-AF65-F5344CB8AC3E}">
        <p14:creationId xmlns:p14="http://schemas.microsoft.com/office/powerpoint/2010/main" val="20910158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A3BBE-3393-4FAE-A534-6ABE490D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Combined optimization creates the strongest service lift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7986F-09B9-4E01-9829-3C5870F2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Senaryo sonuçları · Çevrim azalırken SLA yükseliyor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8B69A-0F37-4742-8D74-10D206B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8A8FA-8FE0-41DD-9972-717C7CB4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390525" y="1447800"/>
          <a:ext xmlns:a="http://schemas.openxmlformats.org/drawingml/2006/main" cx="62865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c291eca525476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ED88F-FAC3-4142-BF9E-F4680A28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47339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0A560-B6C9-471A-8FA2-48817CA7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FC8AA-F840-4327-B25D-23C77913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90700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COMBINED MEAN 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446DA-041F-4783-AF0B-05644655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4312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166.48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70267-12C1-44AA-81A0-AF75AFAB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337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−40.12 h vs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079AF-7E99-4424-A76B-36A63595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86175"/>
            <a:ext cx="47339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FD699-C2C3-4D3C-9A7E-4B04E5DC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861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5745C-44C5-4B8D-8322-446C09A4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9572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COMBINED SLA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0A166-CCD4-475C-9221-B692EEF6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4815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77.64%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0F3C5-17E7-4300-90A8-A8C6CB7A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3872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+13.63 percentage 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3C778-3028-44C0-9D7B-BEB51B2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19750"/>
            <a:ext cx="47339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578D1-4A14-4AF4-AACD-937FFC4C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743575"/>
            <a:ext cx="4295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 capacity alone is the weakest investment case: 1.73% cycle reduction and 0.24x first-year ROI.</a:t>
            </a:r>
          </a:p>
        </p:txBody>
      </p:sp>
    </p:spTree>
    <p:extLst>
      <p:ext uri="{BB962C8B-B14F-4D97-AF65-F5344CB8AC3E}">
        <p14:creationId xmlns:p14="http://schemas.microsoft.com/office/powerpoint/2010/main" val="1732389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D906F2-311D-41C7-A1EF-96BC3FE6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$2.21M value case is fully assumption-driven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49953-3265-45D3-9B00-D9A62A63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Değer ve ROI · Finans girdileri değiştirilebilir ve mutabık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2EC73-B80C-4B48-9935-5BD62DA6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8173C-6820-4075-A884-4D1AD948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D397E-DBF7-4036-A6FA-33BA9A26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9187D-A87D-4096-83D4-26CCB7F2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02360-41D3-4012-8CA0-95A3942D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4782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ANNUAL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5487D-C82E-41FF-936F-F6F1729E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$2.21M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ACAC3-1DAF-439E-87B7-51E675CB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03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A909C-1FE0-4709-A3B5-4A57A896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382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B5CB9-19CB-4A8C-9CA6-E56505A3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3827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32278-1256-42A4-B649-EEAA01A5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64782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INVESTMENT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69C23-C7A6-45ED-BD9A-1D5E8998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002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$225k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12513-0881-4B8E-A892-DF984676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003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one-time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20DFB-49EB-465B-82DA-B3954773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438275"/>
            <a:ext cx="4286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3BE1C-97E5-4AD3-8D8E-6C81FB67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43827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76AF7-42B5-4E90-B180-721A0725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647825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FIRST-YEAR ROI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D0306-02F9-4F63-A193-9E78D25F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00250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8.84x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AF615-9DD1-4C8A-95AA-14E0FFCC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00325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(value − investment) / investment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390525" y="3476625"/>
          <a:ext xmlns:a="http://schemas.openxmlformats.org/drawingml/2006/main" cx="1141095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4476750"/>
                <a:gridCol w="3314700"/>
              </a:tblGrid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 component</a:t>
                      </a:r>
                    </a:p>
                  </a:txBody>
                  <a:tcPr marL="91440" marR="91440" marT="45720" marB="45720">
                    <a:solidFill>
                      <a:srgbClr val="13213C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Formula</a:t>
                      </a:r>
                    </a:p>
                  </a:txBody>
                  <a:tcPr marL="91440" marR="91440" marT="45720" marB="45720">
                    <a:solidFill>
                      <a:srgbClr val="13213C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Modeled value</a:t>
                      </a:r>
                    </a:p>
                  </a:txBody>
                  <a:tcPr marL="91440" marR="91440" marT="45720" marB="45720">
                    <a:solidFill>
                      <a:srgbClr val="13213C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Delay-hour reduction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40.12 h × $5.50 × 8,000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$1,765,296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Manual-hour reduction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1.39 h × $32 × 8,000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$355,028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Avoided breach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13.63% × $85 × 8,000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$92,713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AF8F3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Reconciles to pipeline</a:t>
                      </a:r>
                    </a:p>
                  </a:txBody>
                  <a:tcPr marL="91440" marR="91440" marT="45720" marB="45720">
                    <a:solidFill>
                      <a:srgbClr val="EAF8F3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$2,213,037</a:t>
                      </a:r>
                    </a:p>
                  </a:txBody>
                  <a:tcPr marL="91440" marR="91440" marT="45720" marB="45720">
                    <a:solidFill>
                      <a:srgbClr val="EAF8F3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53184-9AD4-4676-A36F-C20F6E90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7BD90-F574-470D-9610-AB3721A4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Karar kuralı: tüm katsayılar üretim öncesinde Finans tarafından sahiplenilmeli ve duyarlılık analizi yapılmalıdır.</a:t>
            </a:r>
          </a:p>
        </p:txBody>
      </p:sp>
    </p:spTree>
    <p:extLst>
      <p:ext uri="{BB962C8B-B14F-4D97-AF65-F5344CB8AC3E}">
        <p14:creationId xmlns:p14="http://schemas.microsoft.com/office/powerpoint/2010/main" val="2325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987FA3-8129-4A2D-AB2F-8DEAC77D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Fund one controlled pilot with three linked interventions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C6CCB-EFCD-4393-8BC6-DEBAECDA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Öneri · Tek pilot, üç eşgüdümlü müdahale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4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12D85-916D-4AF7-89B3-8D4FB471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9AA29-9DF9-47A3-8C13-60F65DBF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13A7C-7CD7-4630-9B25-97229A5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71650"/>
            <a:ext cx="357187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6AD5B-9D31-4F6D-9854-D11B21A2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18007-FFB1-469F-A1DE-8881AA08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 · Approval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E1F05-AC95-404A-972E-9CBCAA65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3114675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Automate assignment and low-risk routing.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Retain accountable approval and an auditable exception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Owner: Procurement + Internal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DA446-B61F-4DCA-B790-D32D5E25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71650"/>
            <a:ext cx="357187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AB9B8-7BAB-4C65-BFCB-2DED62EE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28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40625-818D-4572-BF58-6791D75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962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 · AP / Treasury capacity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EC529-6630-4035-826D-EF746C51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3114675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Add targeted invoice-match and payment-authorization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Measure queue depth, SLA and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Owner: AP + Treasury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62FA7-9019-42FD-B11A-A0203F70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357187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896D2-DECE-41F6-A516-C8A6D17E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28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88639-EA17-408A-9E91-108F7980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62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 · Supplier intervention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107D7-35A0-4E16-997F-47143E39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3114675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Prioritize high-variance vendors.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Measure confirmation-to-receipt lead time and exception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Owner: Procurement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08350-11F0-4C97-888B-993F97CD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EA70E-9CC7-4A1B-ACD3-AF8A1749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Scale only if the pilot improves SLA and cycle time without control regression or unfair subgroup impact.</a:t>
            </a:r>
          </a:p>
        </p:txBody>
      </p:sp>
    </p:spTree>
    <p:extLst>
      <p:ext uri="{BB962C8B-B14F-4D97-AF65-F5344CB8AC3E}">
        <p14:creationId xmlns:p14="http://schemas.microsoft.com/office/powerpoint/2010/main" val="14336463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55C46-86C0-407D-9ACB-3C4626F8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Analytical by design; read-only at the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59E5B-3DED-44DD-9C4C-1B687D10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Mimari ve yönetişim · Kanıt → analitik → karar sunumu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ACACE-1A74-4564-A926-458F0C15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D9BA7-7597-48A6-913E-BD434C09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3743325" y="3352800"/>
            <a:ext cx="714375" cy="95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5DFF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7734300" y="3352800"/>
            <a:ext cx="714375" cy="95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5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F2612-04B0-4F79-96AA-EEEAA11B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F6E6B-5A5D-49A1-97A2-1360BDC2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383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CECCA-6D9F-4500-9501-B087DCD2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14625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166,551 events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12,000 cases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BPMN target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contracts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C379A-89A1-483D-8C90-A4CB5F7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C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9D97F-6689-4B29-A0BD-078F661E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383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Analytical engines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D619A-C563-4119-A47F-E54E12DB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14625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Discovery + variants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Conformance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SLA risk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Capacity simulation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DD70B-A5D3-41FD-BF21-6A4B96CA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954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CC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0A297-B633-46EF-9481-B2238599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383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 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62AB2-0AD2-4197-969C-390B6DF0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+ PostgreSQL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Power BI + Excel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Report + presentation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Prometheus + Grafana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B645E-1752-49AF-849E-D0136E61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910CA-8867-46EB-95A2-1636F6A8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Human-in-the-loop boundary · Analitik katman satın alma talebini onaylamaz, faturayı reddetmez veya ödeme gerçekleştirmez.</a:t>
            </a:r>
          </a:p>
        </p:txBody>
      </p:sp>
    </p:spTree>
    <p:extLst>
      <p:ext uri="{BB962C8B-B14F-4D97-AF65-F5344CB8AC3E}">
        <p14:creationId xmlns:p14="http://schemas.microsoft.com/office/powerpoint/2010/main" val="17712886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20F0E-502F-4CF1-97C1-800A3413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90-day pilot turns the model into measured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B53BE-6854-4EDC-8E53-CB596B73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5DFF"/>
                </a:solidFill>
                <a:latin typeface="Arial"/>
                <a:ea typeface="Arial"/>
                <a:cs typeface="Arial"/>
              </a:rPr>
              <a:t>Yol haritası · Kalibre et, pilotla, karar ver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90525" y="12192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390525" y="6200775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B1E35-8B87-4C42-A986-F6941253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960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benchmark · Sentetik çalışma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1012C-7608-439E-B5B2-DC9583FD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23950" y="3143250"/>
            <a:ext cx="9906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AB140-C1D8-40AA-8590-9B705514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8A243-3EA1-4D74-A9E3-FC5D51A3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2905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C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7ACE0-2894-4A1C-A120-CC291CD3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8117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0–30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1FD03-1566-4E18-A417-0FEE41C8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526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Calibrate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111B1-8BE4-471B-8B86-62BCE44C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67125"/>
            <a:ext cx="2428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KPI owners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Finance assumptions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Source timestamps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Pilot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1AAAB-10FC-437A-8ADF-79E36C43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42829-D392-49C1-A1AF-AA8D1411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2905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CC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6796F-52C4-495A-AFA0-2FE0BCE3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8117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78"/>
                </a:solidFill>
                <a:latin typeface="Arial"/>
                <a:ea typeface="Arial"/>
                <a:cs typeface="Arial"/>
              </a:rPr>
              <a:t>31–60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BEF24-BA05-4322-BE40-89BF494B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526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E5AFC-2CCF-462E-8366-B4C675D6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67125"/>
            <a:ext cx="2428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Approval routing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AP / Treasury capacity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Supplier focus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Control tracking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023F2-F5D5-4FB5-81F5-FB83225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0182B-7086-41EB-974A-AA30B52F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2905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CD5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21E22-2442-45D9-998C-FC51491E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8117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61–90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A943E-27C1-4350-A232-92B532A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B5217-B946-433B-909A-4B00AA66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67125"/>
            <a:ext cx="2428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Compare cohorts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Recalculate value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Review fairness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Scale / revise / stop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FC970-05B3-4FD2-9DD1-848AB4F1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11410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6393C-1919-433C-AD97-E7D247DA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Scale gate: observed effect + calibrated value + no control regression + approved rollback.</a:t>
            </a:r>
          </a:p>
        </p:txBody>
      </p:sp>
    </p:spTree>
    <p:extLst>
      <p:ext uri="{BB962C8B-B14F-4D97-AF65-F5344CB8AC3E}">
        <p14:creationId xmlns:p14="http://schemas.microsoft.com/office/powerpoint/2010/main" val="7262769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59791C-98E5-4D17-A17B-C9F0CE83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F6FA7-D11C-483A-BB90-07F23FE2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94773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Discover the process.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Quantify the risk.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Test the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FE699-A99A-4973-A1C6-2D1E9ABC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Süreci keşfet · Riski ölç · Kararı test et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390525" y="5486400"/>
            <a:ext cx="11410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F8DA1-34FF-437B-9E82-296AE450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Murat Miraç Gedik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github.com/muratmiracg-dev/Enterprise-Process-Mining-Intelligent-Workflow-Optimization</a:t>
            </a:r>
          </a:p>
        </p:txBody>
      </p:sp>
    </p:spTree>
    <p:extLst>
      <p:ext uri="{BB962C8B-B14F-4D97-AF65-F5344CB8AC3E}">
        <p14:creationId xmlns:p14="http://schemas.microsoft.com/office/powerpoint/2010/main" val="1248759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2026-07-28T21:43:08.3920000Z</dcterms:created>
  <dcterms:modified xsi:type="dcterms:W3CDTF">2026-07-28T21:43:08.3920000Z</dcterms:modified>
</coreProperties>
</file>